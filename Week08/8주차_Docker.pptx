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4"/>
  </p:notesMasterIdLst>
  <p:sldIdLst>
    <p:sldId id="338" r:id="rId2"/>
    <p:sldId id="257" r:id="rId3"/>
    <p:sldId id="258" r:id="rId4"/>
    <p:sldId id="259" r:id="rId5"/>
    <p:sldId id="256" r:id="rId6"/>
    <p:sldId id="264" r:id="rId7"/>
    <p:sldId id="280" r:id="rId8"/>
    <p:sldId id="304" r:id="rId9"/>
    <p:sldId id="269" r:id="rId10"/>
    <p:sldId id="314" r:id="rId11"/>
    <p:sldId id="313" r:id="rId12"/>
    <p:sldId id="315" r:id="rId13"/>
    <p:sldId id="310" r:id="rId14"/>
    <p:sldId id="311" r:id="rId15"/>
    <p:sldId id="308" r:id="rId16"/>
    <p:sldId id="312" r:id="rId17"/>
    <p:sldId id="283" r:id="rId18"/>
    <p:sldId id="275" r:id="rId19"/>
    <p:sldId id="284" r:id="rId20"/>
    <p:sldId id="333" r:id="rId21"/>
    <p:sldId id="334" r:id="rId22"/>
    <p:sldId id="295" r:id="rId23"/>
    <p:sldId id="320" r:id="rId24"/>
    <p:sldId id="321" r:id="rId25"/>
    <p:sldId id="316" r:id="rId26"/>
    <p:sldId id="317" r:id="rId27"/>
    <p:sldId id="324" r:id="rId28"/>
    <p:sldId id="325" r:id="rId29"/>
    <p:sldId id="322" r:id="rId30"/>
    <p:sldId id="323" r:id="rId31"/>
    <p:sldId id="292" r:id="rId32"/>
    <p:sldId id="291" r:id="rId33"/>
    <p:sldId id="301" r:id="rId34"/>
    <p:sldId id="302" r:id="rId35"/>
    <p:sldId id="326" r:id="rId36"/>
    <p:sldId id="327" r:id="rId37"/>
    <p:sldId id="299" r:id="rId38"/>
    <p:sldId id="290" r:id="rId39"/>
    <p:sldId id="335" r:id="rId40"/>
    <p:sldId id="336" r:id="rId41"/>
    <p:sldId id="293" r:id="rId42"/>
    <p:sldId id="337" r:id="rId43"/>
  </p:sldIdLst>
  <p:sldSz cx="24384000" cy="13716000"/>
  <p:notesSz cx="6858000" cy="9144000"/>
  <p:embeddedFontLst>
    <p:embeddedFont>
      <p:font typeface="BM JUA OTF" panose="02020603020101020101" pitchFamily="18" charset="-127"/>
      <p:regular r:id="rId4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92338"/>
  </p:normalViewPr>
  <p:slideViewPr>
    <p:cSldViewPr snapToGrid="0">
      <p:cViewPr varScale="1">
        <p:scale>
          <a:sx n="22" d="100"/>
          <a:sy n="22" d="100"/>
        </p:scale>
        <p:origin x="280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872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96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126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780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059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8164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1057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2900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2716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파슬리 버터, 구운 헤이즐넛, 파르메산 치즈를 올린 파파르델레 파스타 그릇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섹션 제목</a:t>
            </a:r>
          </a:p>
        </p:txBody>
      </p:sp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8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8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의제 부제</a:t>
            </a:r>
          </a:p>
        </p:txBody>
      </p:sp>
      <p:sp>
        <p:nvSpPr>
          <p:cNvPr id="9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사실 정보</a:t>
            </a:r>
          </a:p>
        </p:txBody>
      </p:sp>
      <p:sp>
        <p:nvSpPr>
          <p:cNvPr id="10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속성</a:t>
            </a:r>
          </a:p>
        </p:txBody>
      </p:sp>
      <p:sp>
        <p:nvSpPr>
          <p:cNvPr id="11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볶음밥과 삶은 계란을 넣은 샐러드 그릇과 젓가락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연어 어묵, 샐러드, 후무스가 든 그릇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파슬리 버터, 구운 헤이즐넛, 파르메산 치즈를 올린 파파르델레 파스타 그릇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4EFE2-61C1-AC62-528F-8EC340DF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B7B16E-63AF-F8E1-A84B-D588E65CC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6C02-090C-4859-9D64-9423938EE8ED}" type="datetimeFigureOut">
              <a:rPr lang="ko-KR" altLang="en-US" smtClean="0"/>
              <a:t>2024. 5. 31.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8CDCFD-ED06-4F54-D2DC-4646C689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620D78-8412-76B9-0E25-2698F233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CB26E-48FF-4B00-9488-B3B102AA2D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26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E0A0585-B476-D232-1CC6-123D36D0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EB6CDC-89F9-D950-2BCC-D8AD328603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6237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BAB39C6-C152-5137-9334-FB6C0F93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85643A-7E43-4FE4-2FA3-F18567EB5F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833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B421CFC-2881-CFAE-E41D-BAE1B683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DF9022-388B-998A-4ED1-0CAE2F2D21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7020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8F7F793-54B1-70DF-5092-FBD8AFB7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E8DD58-BACA-5556-DFAB-A0F8514F4B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3272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Slide 16_9 - 1.png" descr="Slide 16_9 -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CS TITLE"/>
          <p:cNvSpPr txBox="1"/>
          <p:nvPr/>
        </p:nvSpPr>
        <p:spPr>
          <a:xfrm>
            <a:off x="7346717" y="6291178"/>
            <a:ext cx="9690566" cy="1133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700">
                <a:solidFill>
                  <a:srgbClr val="3D3E3F"/>
                </a:solidFill>
              </a:defRPr>
            </a:lvl1pPr>
          </a:lstStyle>
          <a:p>
            <a:r>
              <a:rPr lang="en-US" b="1" dirty="0"/>
              <a:t>Docker</a:t>
            </a:r>
            <a:endParaRPr b="1" dirty="0"/>
          </a:p>
        </p:txBody>
      </p:sp>
      <p:sp>
        <p:nvSpPr>
          <p:cNvPr id="153" name="23.09.06 김감자"/>
          <p:cNvSpPr txBox="1"/>
          <p:nvPr/>
        </p:nvSpPr>
        <p:spPr>
          <a:xfrm>
            <a:off x="7346717" y="9068385"/>
            <a:ext cx="9690566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500"/>
            </a:pPr>
            <a:r>
              <a:rPr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2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4</a:t>
            </a:r>
            <a:r>
              <a:rPr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.0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5</a:t>
            </a:r>
            <a:r>
              <a:rPr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31</a:t>
            </a:r>
            <a:br>
              <a:rPr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</a:br>
            <a:r>
              <a:rPr lang="ko-KR" altLang="en-US" dirty="0" err="1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박윤하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감자</a:t>
            </a:r>
            <a:endParaRPr dirty="0">
              <a:solidFill>
                <a:schemeClr val="bg2">
                  <a:lumMod val="10000"/>
                </a:schemeClr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Slide 16_9 - 2.png" descr="Slide 16_9 -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AAC651-7D16-015C-1B6D-C52BE884E79A}"/>
              </a:ext>
            </a:extLst>
          </p:cNvPr>
          <p:cNvSpPr txBox="1"/>
          <p:nvPr/>
        </p:nvSpPr>
        <p:spPr>
          <a:xfrm>
            <a:off x="1890874" y="5113933"/>
            <a:ext cx="11689097" cy="34881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914400" marR="0" indent="-9144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ko-KR" altLang="en-US" sz="5500" dirty="0" err="1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도커에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대해 이해하자</a:t>
            </a:r>
            <a:endParaRPr lang="en-US" altLang="ko-KR" sz="5500" dirty="0">
              <a:solidFill>
                <a:schemeClr val="bg2">
                  <a:lumMod val="10000"/>
                </a:schemeClr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914400" marR="0" indent="-9144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ko-KR" altLang="en-US" sz="5500" dirty="0" err="1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도커를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이용한 배포 과정에 대해 이해하자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23377-DF09-7E59-894B-DC952A594E26}"/>
              </a:ext>
            </a:extLst>
          </p:cNvPr>
          <p:cNvSpPr txBox="1"/>
          <p:nvPr/>
        </p:nvSpPr>
        <p:spPr>
          <a:xfrm>
            <a:off x="1623245" y="2057114"/>
            <a:ext cx="3666068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교육 목표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4182804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 16_9 - 6.png" descr="Slide 16_9 - 6.png">
            <a:extLst>
              <a:ext uri="{FF2B5EF4-FFF2-40B4-BE49-F238E27FC236}">
                <a16:creationId xmlns:a16="http://schemas.microsoft.com/office/drawing/2014/main" id="{DFFAE772-9B55-6C14-6C94-9ECEEA41F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43A9D2-583D-7E68-F1F5-162F4176E998}"/>
              </a:ext>
            </a:extLst>
          </p:cNvPr>
          <p:cNvSpPr txBox="1"/>
          <p:nvPr/>
        </p:nvSpPr>
        <p:spPr>
          <a:xfrm>
            <a:off x="12140673" y="6421982"/>
            <a:ext cx="102657" cy="8720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50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sp>
        <p:nvSpPr>
          <p:cNvPr id="6" name="구름 모양 설명선[C] 5">
            <a:extLst>
              <a:ext uri="{FF2B5EF4-FFF2-40B4-BE49-F238E27FC236}">
                <a16:creationId xmlns:a16="http://schemas.microsoft.com/office/drawing/2014/main" id="{D91DC8B3-50B9-F3DC-F94F-262887BE0FC2}"/>
              </a:ext>
            </a:extLst>
          </p:cNvPr>
          <p:cNvSpPr/>
          <p:nvPr/>
        </p:nvSpPr>
        <p:spPr>
          <a:xfrm rot="304669">
            <a:off x="12416683" y="2655252"/>
            <a:ext cx="7521012" cy="3602839"/>
          </a:xfrm>
          <a:prstGeom prst="cloudCallout">
            <a:avLst>
              <a:gd name="adj1" fmla="val -24962"/>
              <a:gd name="adj2" fmla="val 76722"/>
            </a:avLst>
          </a:prstGeom>
          <a:noFill/>
          <a:ln w="762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BM JUA OTF" panose="02020603020101020101" pitchFamily="18" charset="-127"/>
              <a:cs typeface="Helvetica Neue Medium"/>
              <a:sym typeface="Helvetica Neu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31672-F825-32F0-AE81-C4926A96F9CA}"/>
              </a:ext>
            </a:extLst>
          </p:cNvPr>
          <p:cNvSpPr txBox="1"/>
          <p:nvPr/>
        </p:nvSpPr>
        <p:spPr>
          <a:xfrm>
            <a:off x="13230960" y="3712878"/>
            <a:ext cx="5892458" cy="14875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45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내 </a:t>
            </a:r>
            <a:r>
              <a:rPr lang="en-US" altLang="ko-KR" sz="4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PC</a:t>
            </a:r>
            <a:r>
              <a:rPr lang="ko-KR" altLang="en-US" sz="4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에서는 잘 되는데</a:t>
            </a:r>
            <a:r>
              <a:rPr lang="en-US" altLang="ko-KR" sz="4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..</a:t>
            </a:r>
            <a:br>
              <a:rPr lang="en-US" altLang="ko-KR" sz="4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</a:br>
            <a:r>
              <a:rPr lang="ko-KR" altLang="en-US" sz="4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배포하면 왜 안되지</a:t>
            </a:r>
            <a:r>
              <a:rPr lang="en-US" altLang="ko-KR" sz="4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  <a:endParaRPr kumimoji="0" lang="ko-KR" altLang="en-US" sz="450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10" name="그림 9" descr="컴퓨터, 노트북, 스크린샷이(가) 표시된 사진&#10;&#10;자동 생성된 설명">
            <a:extLst>
              <a:ext uri="{FF2B5EF4-FFF2-40B4-BE49-F238E27FC236}">
                <a16:creationId xmlns:a16="http://schemas.microsoft.com/office/drawing/2014/main" id="{3FAE4CFF-4BFF-6B63-AC68-D6E5C8135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474" y="6421982"/>
            <a:ext cx="7183053" cy="581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4651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6189C-5ED5-2E3B-136C-06033E92A84B}"/>
              </a:ext>
            </a:extLst>
          </p:cNvPr>
          <p:cNvSpPr txBox="1"/>
          <p:nvPr/>
        </p:nvSpPr>
        <p:spPr>
          <a:xfrm>
            <a:off x="1623245" y="2057114"/>
            <a:ext cx="4364977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Docker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란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?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130A5E7-8675-FBE0-61F3-E59B9D21A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245" y="4536374"/>
            <a:ext cx="7772400" cy="46432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8E63A5-42BA-4CEA-0C7C-336203DEEC7F}"/>
              </a:ext>
            </a:extLst>
          </p:cNvPr>
          <p:cNvSpPr txBox="1"/>
          <p:nvPr/>
        </p:nvSpPr>
        <p:spPr>
          <a:xfrm>
            <a:off x="10706286" y="4267547"/>
            <a:ext cx="12054470" cy="51809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marR="0" indent="-6858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컨테이너 기반의 오픈소스 가상화 플랫폼</a:t>
            </a:r>
            <a:endParaRPr lang="en-US" altLang="ko-KR" sz="5500" dirty="0">
              <a:solidFill>
                <a:schemeClr val="bg2">
                  <a:lumMod val="10000"/>
                </a:schemeClr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685800" marR="0" indent="-6858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응용 프로그램과 그 종속성을 격리된 환경인 컨테이너로 </a:t>
            </a:r>
            <a:r>
              <a:rPr kumimoji="0" lang="ko-KR" altLang="en-US" sz="550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패키징하여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실행하는 기술</a:t>
            </a:r>
          </a:p>
        </p:txBody>
      </p:sp>
    </p:spTree>
    <p:extLst>
      <p:ext uri="{BB962C8B-B14F-4D97-AF65-F5344CB8AC3E}">
        <p14:creationId xmlns:p14="http://schemas.microsoft.com/office/powerpoint/2010/main" val="44732556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6189C-5ED5-2E3B-136C-06033E92A84B}"/>
              </a:ext>
            </a:extLst>
          </p:cNvPr>
          <p:cNvSpPr txBox="1"/>
          <p:nvPr/>
        </p:nvSpPr>
        <p:spPr>
          <a:xfrm>
            <a:off x="1623245" y="2057114"/>
            <a:ext cx="7947689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ko-KR" altLang="en-US" sz="55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가상머신 </a:t>
            </a:r>
            <a:r>
              <a:rPr lang="en" altLang="ko-KR" sz="55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vs </a:t>
            </a:r>
            <a:r>
              <a:rPr lang="ko-KR" altLang="en-US" sz="55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5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77BA68D-CC49-1F1B-31CE-8C77E8768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05" y="4019479"/>
            <a:ext cx="15090189" cy="7639407"/>
          </a:xfrm>
          <a:prstGeom prst="rect">
            <a:avLst/>
          </a:prstGeom>
        </p:spPr>
      </p:pic>
      <p:sp>
        <p:nvSpPr>
          <p:cNvPr id="5" name="액자 4">
            <a:extLst>
              <a:ext uri="{FF2B5EF4-FFF2-40B4-BE49-F238E27FC236}">
                <a16:creationId xmlns:a16="http://schemas.microsoft.com/office/drawing/2014/main" id="{E76927B5-ED51-107B-CA9E-767E389DBBA7}"/>
              </a:ext>
            </a:extLst>
          </p:cNvPr>
          <p:cNvSpPr/>
          <p:nvPr/>
        </p:nvSpPr>
        <p:spPr>
          <a:xfrm>
            <a:off x="12344403" y="7194038"/>
            <a:ext cx="7392691" cy="1290288"/>
          </a:xfrm>
          <a:prstGeom prst="frame">
            <a:avLst>
              <a:gd name="adj1" fmla="val 8088"/>
            </a:avLst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701FF2DF-00CD-3FF9-F529-938E133939BD}"/>
              </a:ext>
            </a:extLst>
          </p:cNvPr>
          <p:cNvSpPr/>
          <p:nvPr/>
        </p:nvSpPr>
        <p:spPr>
          <a:xfrm>
            <a:off x="4646905" y="5908991"/>
            <a:ext cx="7392694" cy="2220686"/>
          </a:xfrm>
          <a:prstGeom prst="frame">
            <a:avLst>
              <a:gd name="adj1" fmla="val 8088"/>
            </a:avLst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018198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6189C-5ED5-2E3B-136C-06033E92A84B}"/>
              </a:ext>
            </a:extLst>
          </p:cNvPr>
          <p:cNvSpPr txBox="1"/>
          <p:nvPr/>
        </p:nvSpPr>
        <p:spPr>
          <a:xfrm>
            <a:off x="1623245" y="2057114"/>
            <a:ext cx="7947689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ko-KR" altLang="en-US" sz="55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가상머신 </a:t>
            </a:r>
            <a:r>
              <a:rPr lang="en" altLang="ko-KR" sz="55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vs </a:t>
            </a:r>
            <a:r>
              <a:rPr lang="ko-KR" altLang="en-US" sz="55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5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F1D99-F9B2-A592-3087-6517772BC0A7}"/>
              </a:ext>
            </a:extLst>
          </p:cNvPr>
          <p:cNvSpPr txBox="1"/>
          <p:nvPr/>
        </p:nvSpPr>
        <p:spPr>
          <a:xfrm>
            <a:off x="1623245" y="11309478"/>
            <a:ext cx="21304488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lvl="1" indent="0">
              <a:lnSpc>
                <a:spcPct val="200000"/>
              </a:lnSpc>
            </a:pPr>
            <a:r>
              <a:rPr lang="en-US" altLang="ko-KR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Virtual Machine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의 컨셉을 가져오면서 경량화한 모델 </a:t>
            </a:r>
            <a:r>
              <a:rPr lang="en-US" altLang="ko-KR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=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-US" altLang="ko-KR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Container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5BAE98-2306-AF2D-AD87-955C17C6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05" y="4019479"/>
            <a:ext cx="15090189" cy="763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5643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6189C-5ED5-2E3B-136C-06033E92A84B}"/>
              </a:ext>
            </a:extLst>
          </p:cNvPr>
          <p:cNvSpPr txBox="1"/>
          <p:nvPr/>
        </p:nvSpPr>
        <p:spPr>
          <a:xfrm>
            <a:off x="1623245" y="2057114"/>
            <a:ext cx="4958089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ko-KR" altLang="en-US" sz="55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도커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사용 이유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B56ED-164A-2487-F77E-12EDE30FF0FB}"/>
              </a:ext>
            </a:extLst>
          </p:cNvPr>
          <p:cNvSpPr txBox="1"/>
          <p:nvPr/>
        </p:nvSpPr>
        <p:spPr>
          <a:xfrm>
            <a:off x="1623245" y="3926499"/>
            <a:ext cx="21037972" cy="8566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marR="0" indent="-6858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환경 </a:t>
            </a:r>
            <a:r>
              <a:rPr kumimoji="0" lang="ko-KR" altLang="en-US" sz="550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일치성</a:t>
            </a:r>
            <a:endParaRPr lang="en-US" altLang="ko-KR" sz="5500" dirty="0">
              <a:solidFill>
                <a:schemeClr val="bg2">
                  <a:lumMod val="10000"/>
                </a:schemeClr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685800" marR="0" indent="-6858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편리한 배포</a:t>
            </a:r>
            <a:endParaRPr lang="en-US" altLang="ko-KR" sz="5500" dirty="0">
              <a:solidFill>
                <a:schemeClr val="bg2">
                  <a:lumMod val="10000"/>
                </a:schemeClr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685800" marR="0" indent="-6858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격리된 환경</a:t>
            </a:r>
            <a:endParaRPr kumimoji="0" lang="en-US" altLang="ko-KR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  <a:p>
            <a:pPr marL="685800" marR="0" indent="-6858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자원 효율성</a:t>
            </a:r>
            <a:endParaRPr lang="en-US" altLang="ko-KR" sz="5500" dirty="0">
              <a:solidFill>
                <a:schemeClr val="bg2">
                  <a:lumMod val="10000"/>
                </a:schemeClr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685800" marR="0" indent="-685800" algn="l" defTabSz="2438338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스케일링</a:t>
            </a:r>
          </a:p>
        </p:txBody>
      </p:sp>
    </p:spTree>
    <p:extLst>
      <p:ext uri="{BB962C8B-B14F-4D97-AF65-F5344CB8AC3E}">
        <p14:creationId xmlns:p14="http://schemas.microsoft.com/office/powerpoint/2010/main" val="364666794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_9 - 2.png" descr="Slide 16_9 - 2.png">
            <a:extLst>
              <a:ext uri="{FF2B5EF4-FFF2-40B4-BE49-F238E27FC236}">
                <a16:creationId xmlns:a16="http://schemas.microsoft.com/office/drawing/2014/main" id="{E7FA0879-D58A-B4E5-EE75-3629C2D2A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6189C-5ED5-2E3B-136C-06033E92A84B}"/>
              </a:ext>
            </a:extLst>
          </p:cNvPr>
          <p:cNvSpPr txBox="1"/>
          <p:nvPr/>
        </p:nvSpPr>
        <p:spPr>
          <a:xfrm>
            <a:off x="1623245" y="2057114"/>
            <a:ext cx="5958362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Docker 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구성 요소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10" name="그림 9" descr="텍스트, 스크린샷, 일렉트릭 블루, 블루이(가) 표시된 사진&#10;&#10;자동 생성된 설명">
            <a:extLst>
              <a:ext uri="{FF2B5EF4-FFF2-40B4-BE49-F238E27FC236}">
                <a16:creationId xmlns:a16="http://schemas.microsoft.com/office/drawing/2014/main" id="{9BD73680-51E3-ADFF-854A-423EAF81F2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000" y="5486399"/>
            <a:ext cx="14400000" cy="3873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D1EE72-7678-F160-0953-A564F308CC6C}"/>
              </a:ext>
            </a:extLst>
          </p:cNvPr>
          <p:cNvSpPr txBox="1"/>
          <p:nvPr/>
        </p:nvSpPr>
        <p:spPr>
          <a:xfrm>
            <a:off x="1623245" y="10297314"/>
            <a:ext cx="21304488" cy="12234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lvl="1" indent="0">
              <a:lnSpc>
                <a:spcPct val="200000"/>
              </a:lnSpc>
            </a:pPr>
            <a:r>
              <a:rPr lang="ko-KR" altLang="en-US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컨테이너를 만들기 위해서는 </a:t>
            </a:r>
            <a:r>
              <a:rPr lang="en" altLang="ko-KR" sz="4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dockerfile</a:t>
            </a:r>
            <a:r>
              <a:rPr lang="en" altLang="ko-KR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 </a:t>
            </a:r>
            <a:r>
              <a:rPr lang="ko-KR" altLang="en-US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만들기</a:t>
            </a:r>
            <a:r>
              <a:rPr lang="en-US" altLang="ko-KR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-&gt; </a:t>
            </a:r>
            <a:r>
              <a:rPr lang="en" altLang="ko-KR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build</a:t>
            </a:r>
            <a:r>
              <a:rPr lang="ko-KR" altLang="en-US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해서 </a:t>
            </a:r>
            <a:r>
              <a:rPr lang="en" altLang="ko-KR" sz="4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image</a:t>
            </a:r>
            <a:r>
              <a:rPr lang="en" altLang="ko-KR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 </a:t>
            </a:r>
            <a:r>
              <a:rPr lang="ko-KR" altLang="en-US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만들기</a:t>
            </a:r>
            <a:r>
              <a:rPr lang="en-US" altLang="ko-KR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-&gt; </a:t>
            </a:r>
            <a:r>
              <a:rPr lang="en" altLang="ko-KR" sz="4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container</a:t>
            </a:r>
            <a:r>
              <a:rPr lang="en" altLang="ko-KR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 </a:t>
            </a:r>
            <a:r>
              <a:rPr lang="ko-KR" altLang="en-US" sz="4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구동하기</a:t>
            </a:r>
            <a:endParaRPr lang="en-US" altLang="ko-KR" sz="4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75092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91E16D-9267-613D-4255-19093B620A71}"/>
              </a:ext>
            </a:extLst>
          </p:cNvPr>
          <p:cNvSpPr txBox="1"/>
          <p:nvPr/>
        </p:nvSpPr>
        <p:spPr>
          <a:xfrm>
            <a:off x="10252364" y="3893773"/>
            <a:ext cx="12635345" cy="779700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- </a:t>
            </a:r>
            <a:r>
              <a:rPr lang="ko-KR" altLang="en-US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컨테이너를 어떻게 만들어야 하는지 </a:t>
            </a:r>
            <a:r>
              <a:rPr lang="en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recipe!</a:t>
            </a:r>
          </a:p>
          <a:p>
            <a:pPr algn="l">
              <a:lnSpc>
                <a:spcPct val="200000"/>
              </a:lnSpc>
            </a:pPr>
            <a:r>
              <a:rPr lang="en-US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- </a:t>
            </a:r>
            <a:r>
              <a:rPr lang="ko-KR" altLang="en-US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필요한 파일</a:t>
            </a:r>
            <a:r>
              <a:rPr lang="en-US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en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dependencies, </a:t>
            </a:r>
            <a:r>
              <a:rPr lang="ko-KR" altLang="en-US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환경변수</a:t>
            </a:r>
            <a:r>
              <a:rPr lang="en-US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ko-KR" altLang="en-US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실행 스크립트 등 포함</a:t>
            </a:r>
          </a:p>
          <a:p>
            <a:pPr algn="l">
              <a:lnSpc>
                <a:spcPct val="200000"/>
              </a:lnSpc>
            </a:pPr>
            <a:r>
              <a:rPr lang="en-US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-</a:t>
            </a:r>
            <a:r>
              <a:rPr lang="ko-KR" altLang="en-US" sz="5000" dirty="0">
                <a:solidFill>
                  <a:srgbClr val="000000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" altLang="ko-KR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DSL(Docker Specific Language) </a:t>
            </a:r>
            <a:r>
              <a:rPr lang="ko-KR" altLang="en-US" sz="5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언어를 사용해 이미지를 생성할 수 있음</a:t>
            </a:r>
            <a:endParaRPr lang="en-US" altLang="ko-KR" sz="5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  <p:pic>
        <p:nvPicPr>
          <p:cNvPr id="5" name="그림 4" descr="텍스트, 스크린샷, 일렉트릭 블루, 블루이(가) 표시된 사진&#10;&#10;자동 생성된 설명">
            <a:extLst>
              <a:ext uri="{FF2B5EF4-FFF2-40B4-BE49-F238E27FC236}">
                <a16:creationId xmlns:a16="http://schemas.microsoft.com/office/drawing/2014/main" id="{E644B291-23F8-C56A-CC07-83DC0423A9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56"/>
          <a:stretch/>
        </p:blipFill>
        <p:spPr>
          <a:xfrm>
            <a:off x="2262654" y="5486398"/>
            <a:ext cx="4729528" cy="3873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081E3-27CC-8F4B-CBDB-00B7CC2B0232}"/>
              </a:ext>
            </a:extLst>
          </p:cNvPr>
          <p:cNvSpPr txBox="1"/>
          <p:nvPr/>
        </p:nvSpPr>
        <p:spPr>
          <a:xfrm>
            <a:off x="1623245" y="2057114"/>
            <a:ext cx="5958362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Docker 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구성 요소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5410734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91E16D-9267-613D-4255-19093B620A71}"/>
              </a:ext>
            </a:extLst>
          </p:cNvPr>
          <p:cNvSpPr txBox="1"/>
          <p:nvPr/>
        </p:nvSpPr>
        <p:spPr>
          <a:xfrm>
            <a:off x="10212607" y="3893774"/>
            <a:ext cx="12635345" cy="779700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200000"/>
              </a:lnSpc>
            </a:pPr>
            <a:r>
              <a:rPr lang="en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- 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객체지향의 </a:t>
            </a:r>
            <a:r>
              <a:rPr lang="en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class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같은 개념</a:t>
            </a:r>
            <a:r>
              <a:rPr lang="en-US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! </a:t>
            </a:r>
          </a:p>
          <a:p>
            <a:pPr algn="l">
              <a:lnSpc>
                <a:spcPct val="200000"/>
              </a:lnSpc>
            </a:pPr>
            <a:r>
              <a:rPr lang="en-US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-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" altLang="ko-KR" sz="5000" b="0" i="0" dirty="0" err="1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Dockerfile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을 </a:t>
            </a:r>
            <a:r>
              <a:rPr lang="en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build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해서 이미지 생성</a:t>
            </a:r>
            <a:r>
              <a:rPr lang="en-US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200000"/>
              </a:lnSpc>
            </a:pPr>
            <a:r>
              <a:rPr lang="en-US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- 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실행되고 있는 </a:t>
            </a:r>
            <a:r>
              <a:rPr lang="en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application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의 상태를 스냅샷</a:t>
            </a:r>
            <a:endParaRPr lang="en-US" altLang="ko-KR" sz="5000" b="0" i="0" dirty="0">
              <a:solidFill>
                <a:srgbClr val="212529"/>
              </a:solidFill>
              <a:effectLst/>
              <a:highlight>
                <a:srgbClr val="FFFFFF"/>
              </a:highlight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- 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변경 불가능</a:t>
            </a:r>
          </a:p>
          <a:p>
            <a:pPr marL="685800" indent="-685800" algn="l">
              <a:lnSpc>
                <a:spcPct val="200000"/>
              </a:lnSpc>
              <a:buFontTx/>
              <a:buChar char="-"/>
            </a:pPr>
            <a:r>
              <a:rPr lang="en" altLang="ko-KR" sz="5000" dirty="0">
                <a:solidFill>
                  <a:srgbClr val="212529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[</a:t>
            </a:r>
            <a:r>
              <a:rPr lang="ko-KR" altLang="en-US" sz="5000" dirty="0">
                <a:solidFill>
                  <a:srgbClr val="212529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저장소 이름</a:t>
            </a:r>
            <a:r>
              <a:rPr lang="en-US" altLang="ko-KR" sz="5000" dirty="0">
                <a:solidFill>
                  <a:srgbClr val="212529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]/[</a:t>
            </a:r>
            <a:r>
              <a:rPr lang="ko-KR" altLang="en-US" sz="5000" dirty="0">
                <a:solidFill>
                  <a:srgbClr val="212529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이미지 이름</a:t>
            </a:r>
            <a:r>
              <a:rPr lang="en-US" altLang="ko-KR" sz="5000" dirty="0">
                <a:solidFill>
                  <a:srgbClr val="212529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]:[</a:t>
            </a:r>
            <a:r>
              <a:rPr lang="ko-KR" altLang="en-US" sz="5000" dirty="0">
                <a:solidFill>
                  <a:srgbClr val="212529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태그</a:t>
            </a:r>
            <a:r>
              <a:rPr lang="en-US" altLang="ko-KR" sz="5000" dirty="0">
                <a:solidFill>
                  <a:srgbClr val="212529"/>
                </a:solidFill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]</a:t>
            </a:r>
          </a:p>
        </p:txBody>
      </p:sp>
      <p:pic>
        <p:nvPicPr>
          <p:cNvPr id="6" name="그림 5" descr="텍스트, 스크린샷, 일렉트릭 블루, 블루이(가) 표시된 사진&#10;&#10;자동 생성된 설명">
            <a:extLst>
              <a:ext uri="{FF2B5EF4-FFF2-40B4-BE49-F238E27FC236}">
                <a16:creationId xmlns:a16="http://schemas.microsoft.com/office/drawing/2014/main" id="{D316FBD2-94D8-6667-179B-F0B43957CC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5" r="35761"/>
          <a:stretch/>
        </p:blipFill>
        <p:spPr>
          <a:xfrm>
            <a:off x="2604654" y="5486398"/>
            <a:ext cx="4045529" cy="38738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7E8B93-BDDF-9492-4C01-FC6F843D0738}"/>
              </a:ext>
            </a:extLst>
          </p:cNvPr>
          <p:cNvSpPr txBox="1"/>
          <p:nvPr/>
        </p:nvSpPr>
        <p:spPr>
          <a:xfrm>
            <a:off x="1623245" y="2057114"/>
            <a:ext cx="5958362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Docker 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구성 요소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2242339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그림 4" descr="텍스트, 스크린샷, 일렉트릭 블루, 블루이(가) 표시된 사진&#10;&#10;자동 생성된 설명">
            <a:extLst>
              <a:ext uri="{FF2B5EF4-FFF2-40B4-BE49-F238E27FC236}">
                <a16:creationId xmlns:a16="http://schemas.microsoft.com/office/drawing/2014/main" id="{C7A63072-1D62-7589-C3A5-6678FEF703D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71"/>
          <a:stretch/>
        </p:blipFill>
        <p:spPr>
          <a:xfrm>
            <a:off x="2604654" y="5486399"/>
            <a:ext cx="4165855" cy="38738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94CF3B-8D7F-6318-5A5B-1CF3A39D5526}"/>
              </a:ext>
            </a:extLst>
          </p:cNvPr>
          <p:cNvSpPr txBox="1"/>
          <p:nvPr/>
        </p:nvSpPr>
        <p:spPr>
          <a:xfrm>
            <a:off x="9375162" y="4663214"/>
            <a:ext cx="13540256" cy="6258123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algn="l">
              <a:lnSpc>
                <a:spcPct val="200000"/>
              </a:lnSpc>
              <a:buFontTx/>
              <a:buChar char="-"/>
            </a:pP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이미지를 고립된 환경에서 프로세스를 실행할 수 있음</a:t>
            </a:r>
            <a:endParaRPr lang="en-US" altLang="ko-KR" sz="5000" b="0" i="0" dirty="0">
              <a:solidFill>
                <a:srgbClr val="212529"/>
              </a:solidFill>
              <a:effectLst/>
              <a:highlight>
                <a:srgbClr val="FFFFFF"/>
              </a:highlight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685800" indent="-685800" algn="l">
              <a:lnSpc>
                <a:spcPct val="200000"/>
              </a:lnSpc>
              <a:buFontTx/>
              <a:buChar char="-"/>
            </a:pP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컨테이너는 이미지를 실행한 상태</a:t>
            </a:r>
            <a:endParaRPr lang="en-US" altLang="ko-KR" sz="5000" b="0" i="0" dirty="0">
              <a:solidFill>
                <a:srgbClr val="212529"/>
              </a:solidFill>
              <a:effectLst/>
              <a:highlight>
                <a:srgbClr val="FFFFFF"/>
              </a:highlight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685800" indent="-685800" algn="l">
              <a:lnSpc>
                <a:spcPct val="200000"/>
              </a:lnSpc>
              <a:buFontTx/>
              <a:buChar char="-"/>
            </a:pP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컨테이너에서 개별적 수정 가능</a:t>
            </a:r>
            <a:r>
              <a:rPr lang="en-US" altLang="ko-KR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. </a:t>
            </a:r>
            <a:r>
              <a:rPr lang="ko-KR" altLang="en-US" sz="5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BM JUA OTF" panose="02020603020101020101" pitchFamily="18" charset="-127"/>
                <a:ea typeface="BM JUA OTF" panose="02020603020101020101" pitchFamily="18" charset="-127"/>
              </a:rPr>
              <a:t>수정해도 이미지에는 영향을 끼치지 않음</a:t>
            </a:r>
            <a:endParaRPr lang="en-US" altLang="ko-KR" sz="5000" b="0" i="0" dirty="0">
              <a:solidFill>
                <a:srgbClr val="212529"/>
              </a:solidFill>
              <a:effectLst/>
              <a:highlight>
                <a:srgbClr val="FFFFFF"/>
              </a:highlight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ED881-F8D4-1CEA-BE60-EA9FFBC03AEF}"/>
              </a:ext>
            </a:extLst>
          </p:cNvPr>
          <p:cNvSpPr txBox="1"/>
          <p:nvPr/>
        </p:nvSpPr>
        <p:spPr>
          <a:xfrm>
            <a:off x="1623245" y="2057114"/>
            <a:ext cx="5958362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Docker </a:t>
            </a:r>
            <a:r>
              <a:rPr lang="ko-KR" altLang="en-US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구성 요소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1986349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6189C-5ED5-2E3B-136C-06033E92A84B}"/>
              </a:ext>
            </a:extLst>
          </p:cNvPr>
          <p:cNvSpPr txBox="1"/>
          <p:nvPr/>
        </p:nvSpPr>
        <p:spPr>
          <a:xfrm>
            <a:off x="1623245" y="2057114"/>
            <a:ext cx="6694140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container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공유 방법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8405C35-AFB6-06BE-A8E6-4F18CA4155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1" b="7847"/>
          <a:stretch/>
        </p:blipFill>
        <p:spPr bwMode="auto">
          <a:xfrm>
            <a:off x="2959100" y="4461163"/>
            <a:ext cx="18465800" cy="767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18008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16_9 - 2.png" descr="Slide 16_9 - 2.png">
            <a:extLst>
              <a:ext uri="{FF2B5EF4-FFF2-40B4-BE49-F238E27FC236}">
                <a16:creationId xmlns:a16="http://schemas.microsoft.com/office/drawing/2014/main" id="{3001050E-B4EB-DE66-79AF-B7D94ED7C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DD6900-8851-98AA-9192-DC7143FB901A}"/>
              </a:ext>
            </a:extLst>
          </p:cNvPr>
          <p:cNvSpPr txBox="1"/>
          <p:nvPr/>
        </p:nvSpPr>
        <p:spPr>
          <a:xfrm>
            <a:off x="1623245" y="2057114"/>
            <a:ext cx="3550652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배포하기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4" name="그림 3" descr="도표, 텍스트, 라인, 스크린샷이(가) 표시된 사진&#10;&#10;자동 생성된 설명">
            <a:extLst>
              <a:ext uri="{FF2B5EF4-FFF2-40B4-BE49-F238E27FC236}">
                <a16:creationId xmlns:a16="http://schemas.microsoft.com/office/drawing/2014/main" id="{D9B3D556-66B8-0B41-2F04-43065376E3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08"/>
          <a:stretch/>
        </p:blipFill>
        <p:spPr>
          <a:xfrm>
            <a:off x="1623245" y="3529118"/>
            <a:ext cx="11316900" cy="7498204"/>
          </a:xfrm>
          <a:prstGeom prst="rect">
            <a:avLst/>
          </a:prstGeom>
        </p:spPr>
      </p:pic>
      <p:pic>
        <p:nvPicPr>
          <p:cNvPr id="6" name="그림 5" descr="도표, 텍스트, 라인, 스크린샷이(가) 표시된 사진&#10;&#10;자동 생성된 설명">
            <a:extLst>
              <a:ext uri="{FF2B5EF4-FFF2-40B4-BE49-F238E27FC236}">
                <a16:creationId xmlns:a16="http://schemas.microsoft.com/office/drawing/2014/main" id="{11EA9B9C-F645-4430-5536-49F3EE1155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54" t="10931" r="2030" b="30573"/>
          <a:stretch/>
        </p:blipFill>
        <p:spPr>
          <a:xfrm>
            <a:off x="12940145" y="4323066"/>
            <a:ext cx="2923310" cy="3113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C15596-C6E2-0A4D-ED5E-370685AE9B6C}"/>
              </a:ext>
            </a:extLst>
          </p:cNvPr>
          <p:cNvSpPr txBox="1"/>
          <p:nvPr/>
        </p:nvSpPr>
        <p:spPr>
          <a:xfrm>
            <a:off x="15863456" y="4323066"/>
            <a:ext cx="6897300" cy="687367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742950" indent="-74295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44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파일 생성 </a:t>
            </a:r>
            <a:r>
              <a:rPr lang="en-US" altLang="ko-KR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(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이미지 준비</a:t>
            </a:r>
            <a:r>
              <a:rPr lang="en-US" altLang="ko-KR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)</a:t>
            </a:r>
          </a:p>
          <a:p>
            <a:pPr marL="742950" indent="-74295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44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 빌드</a:t>
            </a:r>
            <a:endParaRPr lang="en-US" altLang="ko-KR" sz="44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742950" indent="-74295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44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 실행</a:t>
            </a:r>
            <a:endParaRPr lang="en-US" altLang="ko-KR" sz="44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742950" indent="-74295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44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 관리</a:t>
            </a:r>
            <a:endParaRPr lang="en-US" altLang="ko-KR" sz="44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marL="742950" indent="-74295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44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ko-KR" altLang="en-US" sz="44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컴포즈를</a:t>
            </a:r>
            <a:r>
              <a:rPr lang="ko-KR" altLang="en-US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이용한 배포</a:t>
            </a:r>
          </a:p>
        </p:txBody>
      </p:sp>
    </p:spTree>
    <p:extLst>
      <p:ext uri="{BB962C8B-B14F-4D97-AF65-F5344CB8AC3E}">
        <p14:creationId xmlns:p14="http://schemas.microsoft.com/office/powerpoint/2010/main" val="160574658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E83B34-08C3-A941-F818-3A1153E52A27}"/>
              </a:ext>
            </a:extLst>
          </p:cNvPr>
          <p:cNvSpPr txBox="1"/>
          <p:nvPr/>
        </p:nvSpPr>
        <p:spPr>
          <a:xfrm>
            <a:off x="1623245" y="2057114"/>
            <a:ext cx="8207375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Spring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Boot 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배포하기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-1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8" name="그림 7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49317831-16BC-7806-0001-052F6BC36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54" y="5253721"/>
            <a:ext cx="6940839" cy="5047883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A17C6D6-933D-F256-3497-1B3A18283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620" y="5364085"/>
            <a:ext cx="12788062" cy="320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7763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399432-62D5-03ED-562F-CF3838CB00F5}"/>
              </a:ext>
            </a:extLst>
          </p:cNvPr>
          <p:cNvSpPr txBox="1"/>
          <p:nvPr/>
        </p:nvSpPr>
        <p:spPr>
          <a:xfrm>
            <a:off x="1623245" y="2057114"/>
            <a:ext cx="8505534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Spring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Boot 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배포하기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-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2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196F8B-E0E8-3181-AB06-D1E1E08B0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245" y="4216399"/>
            <a:ext cx="16335571" cy="20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56F2FFF-9D54-889C-9670-D41E79C9F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245" y="7071778"/>
            <a:ext cx="19854016" cy="525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01993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399432-62D5-03ED-562F-CF3838CB00F5}"/>
              </a:ext>
            </a:extLst>
          </p:cNvPr>
          <p:cNvSpPr txBox="1"/>
          <p:nvPr/>
        </p:nvSpPr>
        <p:spPr>
          <a:xfrm>
            <a:off x="1623245" y="2057114"/>
            <a:ext cx="8481489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Spring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Boot 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배포하기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-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lang="en-US" altLang="ko-KR" sz="55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3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E4A046-C0D1-AA18-B924-F915B9B90DE5}"/>
              </a:ext>
            </a:extLst>
          </p:cNvPr>
          <p:cNvSpPr txBox="1"/>
          <p:nvPr/>
        </p:nvSpPr>
        <p:spPr>
          <a:xfrm>
            <a:off x="1539756" y="3429285"/>
            <a:ext cx="21304488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lvl="1" indent="0">
              <a:lnSpc>
                <a:spcPct val="200000"/>
              </a:lnSpc>
            </a:pPr>
            <a:r>
              <a:rPr lang="en-US" altLang="ko-KR" sz="44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sudo</a:t>
            </a:r>
            <a:r>
              <a:rPr lang="en-US" altLang="ko-KR" sz="44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docker-compose up -d</a:t>
            </a:r>
          </a:p>
        </p:txBody>
      </p:sp>
      <p:pic>
        <p:nvPicPr>
          <p:cNvPr id="5" name="그림 4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539CBEC4-A0B2-E376-F106-C3E757339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63" y="5611494"/>
            <a:ext cx="19878273" cy="46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5281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Slide 16_9 - 6.png" descr="Slide 16_9 -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399432-62D5-03ED-562F-CF3838CB00F5}"/>
              </a:ext>
            </a:extLst>
          </p:cNvPr>
          <p:cNvSpPr txBox="1"/>
          <p:nvPr/>
        </p:nvSpPr>
        <p:spPr>
          <a:xfrm>
            <a:off x="1623245" y="2057114"/>
            <a:ext cx="8535991" cy="1372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&lt;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Spring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Boot 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배포하기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-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4</a:t>
            </a:r>
            <a:r>
              <a:rPr kumimoji="0" lang="ko-KR" altLang="en-US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</a:t>
            </a:r>
            <a:r>
              <a:rPr kumimoji="0" lang="en-US" altLang="ko-KR" sz="550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&gt;</a:t>
            </a:r>
            <a:endParaRPr kumimoji="0" lang="ko-KR" altLang="en-US" sz="550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485B11-13B4-67FF-21EC-FA48680DA4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06"/>
          <a:stretch/>
        </p:blipFill>
        <p:spPr bwMode="auto">
          <a:xfrm>
            <a:off x="1923253" y="7311652"/>
            <a:ext cx="7935974" cy="501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8AA9E24-3DFC-C744-2B0B-37EA59661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253" y="3965948"/>
            <a:ext cx="16006387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03455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251697E-85A3-C6A0-75A3-260629F3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216B00-DC8C-541E-3F06-16D6C17BC3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5659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altLang="ko-KR" dirty="0"/>
              <a:t>1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54E7F-F58F-4568-BF89-5C5C9BF50C4E}"/>
              </a:ext>
            </a:extLst>
          </p:cNvPr>
          <p:cNvSpPr txBox="1"/>
          <p:nvPr/>
        </p:nvSpPr>
        <p:spPr>
          <a:xfrm>
            <a:off x="2250556" y="3906220"/>
            <a:ext cx="20828184" cy="7304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관한 설명 중 </a:t>
            </a:r>
            <a:r>
              <a:rPr lang="ko-KR" altLang="en-US" sz="5200" dirty="0">
                <a:solidFill>
                  <a:srgbClr val="0070C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옳지 않은 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것은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</a:p>
          <a:p>
            <a:pPr algn="l">
              <a:lnSpc>
                <a:spcPct val="150000"/>
              </a:lnSpc>
            </a:pPr>
            <a:b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</a:b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1.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도커는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 기반의 오픈소스 가상화 플랫폼이다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2. </a:t>
            </a:r>
            <a:r>
              <a:rPr lang="en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Container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중에서 가장 많이 사용 되는 것은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도커이다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3.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도커를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사용하면 다양한 환경에서 동일한 실행 환경을 보장 받는다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4.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도커는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이미지로 패키징을 배포하기 때문에 배포가 편리하다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603505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Slide 16_9 - 4.png" descr="Slide 16_9 -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A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A.</a:t>
            </a:r>
            <a:r>
              <a:rPr lang="en-US" altLang="ko-KR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98F7B-DDB3-6D45-95EA-CE297DB3F1EE}"/>
              </a:ext>
            </a:extLst>
          </p:cNvPr>
          <p:cNvSpPr txBox="1"/>
          <p:nvPr/>
        </p:nvSpPr>
        <p:spPr>
          <a:xfrm>
            <a:off x="7054734" y="11643569"/>
            <a:ext cx="10274531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정답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: 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2</a:t>
            </a: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9CADD-462F-724C-34CC-27DACA0CD044}"/>
              </a:ext>
            </a:extLst>
          </p:cNvPr>
          <p:cNvSpPr txBox="1"/>
          <p:nvPr/>
        </p:nvSpPr>
        <p:spPr>
          <a:xfrm>
            <a:off x="2250556" y="3902773"/>
            <a:ext cx="20828184" cy="7304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관한 설명 중 </a:t>
            </a:r>
            <a:r>
              <a:rPr lang="ko-KR" altLang="en-US" sz="5200" dirty="0">
                <a:solidFill>
                  <a:srgbClr val="0070C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옳지 않은 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것은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</a:p>
          <a:p>
            <a:pPr algn="l">
              <a:lnSpc>
                <a:spcPct val="150000"/>
              </a:lnSpc>
            </a:pPr>
            <a:b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</a:b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1.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도커는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 기반의 오픈소스 가상화 플랫폼이다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2. </a:t>
            </a:r>
            <a:r>
              <a:rPr lang="en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Container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중에서 가장 많이 사용 되는 것은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도커이다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3.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도커를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사용하면 다양한 환경에서 동일한 실행 환경을 보장 받는다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4.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도커는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이미지로 패키징을 배포하기 때문에 배포가 편리하다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220686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altLang="ko-KR" dirty="0"/>
              <a:t>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F7D1D-E59A-4B5F-A605-F900D38DD230}"/>
              </a:ext>
            </a:extLst>
          </p:cNvPr>
          <p:cNvSpPr txBox="1"/>
          <p:nvPr/>
        </p:nvSpPr>
        <p:spPr>
          <a:xfrm>
            <a:off x="2250556" y="4914507"/>
            <a:ext cx="20642695" cy="2503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하나의 운영체제 위에서 각각 고립된 다른 환경에서 여러 운영체제를 구동하기 위한 기술은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  <a:endParaRPr lang="ko-KR" altLang="en-US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70370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 16_9 - 4.png" descr="Slide 16_9 - 4.png">
            <a:extLst>
              <a:ext uri="{FF2B5EF4-FFF2-40B4-BE49-F238E27FC236}">
                <a16:creationId xmlns:a16="http://schemas.microsoft.com/office/drawing/2014/main" id="{3AECDEAA-B322-4602-A19C-8DC69C54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A.1">
            <a:extLst>
              <a:ext uri="{FF2B5EF4-FFF2-40B4-BE49-F238E27FC236}">
                <a16:creationId xmlns:a16="http://schemas.microsoft.com/office/drawing/2014/main" id="{359D3379-F6D3-4B02-8D89-F53A3D40E3A8}"/>
              </a:ext>
            </a:extLst>
          </p:cNvPr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A.</a:t>
            </a:r>
            <a:r>
              <a:rPr lang="en-US" altLang="ko-KR" dirty="0"/>
              <a:t>2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537ED8-A118-4194-9E35-434549EF75D4}"/>
              </a:ext>
            </a:extLst>
          </p:cNvPr>
          <p:cNvSpPr txBox="1"/>
          <p:nvPr/>
        </p:nvSpPr>
        <p:spPr>
          <a:xfrm>
            <a:off x="7054734" y="10371766"/>
            <a:ext cx="10274531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정답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: </a:t>
            </a: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가상머신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206BF-1EDB-A57B-315A-D44B028074C3}"/>
              </a:ext>
            </a:extLst>
          </p:cNvPr>
          <p:cNvSpPr txBox="1"/>
          <p:nvPr/>
        </p:nvSpPr>
        <p:spPr>
          <a:xfrm>
            <a:off x="2250556" y="4914507"/>
            <a:ext cx="20642695" cy="2503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하나의 운영체제 위에서 각각 고립된 다른 환경에서 여러 운영체제를 구동하기 위한 기술은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  <a:endParaRPr lang="ko-KR" altLang="en-US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15245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altLang="ko-KR" dirty="0"/>
              <a:t>3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F7D1D-E59A-4B5F-A605-F900D38DD230}"/>
              </a:ext>
            </a:extLst>
          </p:cNvPr>
          <p:cNvSpPr txBox="1"/>
          <p:nvPr/>
        </p:nvSpPr>
        <p:spPr>
          <a:xfrm>
            <a:off x="2250556" y="3906774"/>
            <a:ext cx="20642695" cy="7304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다음 중 </a:t>
            </a: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도커를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사용하는 이유로 </a:t>
            </a:r>
            <a:r>
              <a:rPr lang="ko-KR" altLang="en-US" sz="5200" dirty="0">
                <a:solidFill>
                  <a:srgbClr val="0070C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옳지 않은 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것을 고르시오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  <a:endParaRPr lang="en-US" altLang="ko-KR" sz="5200" b="1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endParaRPr lang="en-US" altLang="ko-KR" sz="5200" dirty="0">
              <a:solidFill>
                <a:srgbClr val="000000"/>
              </a:solidFill>
              <a:effectLst/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다양한 운영체제에서 동일한 실행 환경을 보장하기 위해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 간 운영체제를 공유하여 리소스 사용을 최적화하기 위해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개별 컨테이너의 실패가 시스템 전체에 영향을 주지 않도록 격리 실행하기 위해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모든 컨테이너가 하나의 공통된 설정을 사용하여 데이터를 공유하기 위해</a:t>
            </a:r>
          </a:p>
        </p:txBody>
      </p:sp>
    </p:spTree>
    <p:extLst>
      <p:ext uri="{BB962C8B-B14F-4D97-AF65-F5344CB8AC3E}">
        <p14:creationId xmlns:p14="http://schemas.microsoft.com/office/powerpoint/2010/main" val="6589658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 16_9 - 4.png" descr="Slide 16_9 - 4.png">
            <a:extLst>
              <a:ext uri="{FF2B5EF4-FFF2-40B4-BE49-F238E27FC236}">
                <a16:creationId xmlns:a16="http://schemas.microsoft.com/office/drawing/2014/main" id="{3AECDEAA-B322-4602-A19C-8DC69C54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A.1">
            <a:extLst>
              <a:ext uri="{FF2B5EF4-FFF2-40B4-BE49-F238E27FC236}">
                <a16:creationId xmlns:a16="http://schemas.microsoft.com/office/drawing/2014/main" id="{359D3379-F6D3-4B02-8D89-F53A3D40E3A8}"/>
              </a:ext>
            </a:extLst>
          </p:cNvPr>
          <p:cNvSpPr txBox="1"/>
          <p:nvPr/>
        </p:nvSpPr>
        <p:spPr>
          <a:xfrm>
            <a:off x="2250556" y="2500856"/>
            <a:ext cx="1713452" cy="116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A.</a:t>
            </a:r>
            <a:r>
              <a:rPr lang="en-US" altLang="ko-KR" dirty="0"/>
              <a:t>3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ED151-70FE-7D7D-5565-2CF681FFDE7A}"/>
              </a:ext>
            </a:extLst>
          </p:cNvPr>
          <p:cNvSpPr txBox="1"/>
          <p:nvPr/>
        </p:nvSpPr>
        <p:spPr>
          <a:xfrm>
            <a:off x="7054734" y="11643569"/>
            <a:ext cx="10274531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정답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: 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4</a:t>
            </a: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34853-3DE4-961D-5CB8-3F641BF7032A}"/>
              </a:ext>
            </a:extLst>
          </p:cNvPr>
          <p:cNvSpPr txBox="1"/>
          <p:nvPr/>
        </p:nvSpPr>
        <p:spPr>
          <a:xfrm>
            <a:off x="2250556" y="3906774"/>
            <a:ext cx="20642695" cy="7304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다음 중 </a:t>
            </a: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도커를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사용하는 이유로 </a:t>
            </a:r>
            <a:r>
              <a:rPr lang="ko-KR" altLang="en-US" sz="5200" dirty="0">
                <a:solidFill>
                  <a:srgbClr val="0070C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옳지 않은 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것을 고르시오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  <a:endParaRPr lang="en-US" altLang="ko-KR" sz="5200" b="1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endParaRPr lang="en-US" altLang="ko-KR" sz="5200" dirty="0">
              <a:solidFill>
                <a:srgbClr val="000000"/>
              </a:solidFill>
              <a:effectLst/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다양한 운영체제에서 동일한 실행 환경을 보장하기 위해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 간 운영체제를 공유하여 리소스 사용을 최적화하기 위해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개별 컨테이너의 실패가 시스템 전체에 영향을 주지 않도록 격리 실행하기 위해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모든 컨테이너가 하나의 공통된 설정을 사용하여 데이터를 공유하기 위해</a:t>
            </a:r>
          </a:p>
        </p:txBody>
      </p:sp>
    </p:spTree>
    <p:extLst>
      <p:ext uri="{BB962C8B-B14F-4D97-AF65-F5344CB8AC3E}">
        <p14:creationId xmlns:p14="http://schemas.microsoft.com/office/powerpoint/2010/main" val="285175468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altLang="ko-KR" dirty="0"/>
              <a:t>4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F7D1D-E59A-4B5F-A605-F900D38DD230}"/>
              </a:ext>
            </a:extLst>
          </p:cNvPr>
          <p:cNvSpPr txBox="1"/>
          <p:nvPr/>
        </p:nvSpPr>
        <p:spPr>
          <a:xfrm>
            <a:off x="2250556" y="5514671"/>
            <a:ext cx="20642695" cy="1302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기존의 가상머신에서 가상화 기술의 컨셉을 가져오면서 경량화를 한 모델은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  <a:endParaRPr lang="ko-KR" altLang="en-US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287712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 16_9 - 4.png" descr="Slide 16_9 - 4.png">
            <a:extLst>
              <a:ext uri="{FF2B5EF4-FFF2-40B4-BE49-F238E27FC236}">
                <a16:creationId xmlns:a16="http://schemas.microsoft.com/office/drawing/2014/main" id="{3AECDEAA-B322-4602-A19C-8DC69C54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A.1">
            <a:extLst>
              <a:ext uri="{FF2B5EF4-FFF2-40B4-BE49-F238E27FC236}">
                <a16:creationId xmlns:a16="http://schemas.microsoft.com/office/drawing/2014/main" id="{359D3379-F6D3-4B02-8D89-F53A3D40E3A8}"/>
              </a:ext>
            </a:extLst>
          </p:cNvPr>
          <p:cNvSpPr txBox="1"/>
          <p:nvPr/>
        </p:nvSpPr>
        <p:spPr>
          <a:xfrm>
            <a:off x="2250556" y="2500856"/>
            <a:ext cx="1713452" cy="116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A.</a:t>
            </a:r>
            <a:r>
              <a:rPr lang="en-US" altLang="ko-KR" dirty="0"/>
              <a:t>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537ED8-A118-4194-9E35-434549EF75D4}"/>
              </a:ext>
            </a:extLst>
          </p:cNvPr>
          <p:cNvSpPr txBox="1"/>
          <p:nvPr/>
        </p:nvSpPr>
        <p:spPr>
          <a:xfrm>
            <a:off x="7054734" y="10371766"/>
            <a:ext cx="10274531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정답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: </a:t>
            </a:r>
            <a:r>
              <a:rPr lang="ko-KR" altLang="en-US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컨테이너</a:t>
            </a:r>
            <a:endParaRPr kumimoji="0" lang="ko-KR" altLang="en-US" sz="5200" b="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902D9-396B-847A-649B-63497270CFE6}"/>
              </a:ext>
            </a:extLst>
          </p:cNvPr>
          <p:cNvSpPr txBox="1"/>
          <p:nvPr/>
        </p:nvSpPr>
        <p:spPr>
          <a:xfrm>
            <a:off x="2250556" y="5514671"/>
            <a:ext cx="20642695" cy="1302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기존의 가상머신에서 가상화 기술의 컨셉을 가져오면서 경량화를 한 모델은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  <a:endParaRPr lang="ko-KR" altLang="en-US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445876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altLang="ko-KR" dirty="0"/>
              <a:t>5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F7D1D-E59A-4B5F-A605-F900D38DD230}"/>
              </a:ext>
            </a:extLst>
          </p:cNvPr>
          <p:cNvSpPr txBox="1"/>
          <p:nvPr/>
        </p:nvSpPr>
        <p:spPr>
          <a:xfrm>
            <a:off x="2250556" y="3906775"/>
            <a:ext cx="20642695" cy="7304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이미지에 관한 설명으로 옳지 않은 것은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  <a:br>
              <a:rPr lang="en-US" altLang="ko-KR" sz="5200" b="1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</a:br>
            <a:endParaRPr lang="en-US" altLang="ko-KR" sz="5200" dirty="0">
              <a:solidFill>
                <a:srgbClr val="000000"/>
              </a:solidFill>
              <a:effectLst/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 이름을 설정하지 않으면 </a:t>
            </a:r>
            <a:r>
              <a:rPr lang="en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default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값으로 저장된다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태그를 생략하면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엔진은 </a:t>
            </a:r>
            <a:r>
              <a:rPr lang="en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latest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로 인식한다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이미지는 변경이 불가능하다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저장소 이름이 명시되지 않은 이미지는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허브의 공식 이미지를 뜻한다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909478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 16_9 - 4.png" descr="Slide 16_9 - 4.png">
            <a:extLst>
              <a:ext uri="{FF2B5EF4-FFF2-40B4-BE49-F238E27FC236}">
                <a16:creationId xmlns:a16="http://schemas.microsoft.com/office/drawing/2014/main" id="{3AECDEAA-B322-4602-A19C-8DC69C54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A.1">
            <a:extLst>
              <a:ext uri="{FF2B5EF4-FFF2-40B4-BE49-F238E27FC236}">
                <a16:creationId xmlns:a16="http://schemas.microsoft.com/office/drawing/2014/main" id="{359D3379-F6D3-4B02-8D89-F53A3D40E3A8}"/>
              </a:ext>
            </a:extLst>
          </p:cNvPr>
          <p:cNvSpPr txBox="1"/>
          <p:nvPr/>
        </p:nvSpPr>
        <p:spPr>
          <a:xfrm>
            <a:off x="2250556" y="2500856"/>
            <a:ext cx="1713452" cy="116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A.</a:t>
            </a:r>
            <a:r>
              <a:rPr lang="en-US" altLang="ko-KR" dirty="0"/>
              <a:t>5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7C34-ADE0-D0EE-795F-6EDFE87FE5AA}"/>
              </a:ext>
            </a:extLst>
          </p:cNvPr>
          <p:cNvSpPr txBox="1"/>
          <p:nvPr/>
        </p:nvSpPr>
        <p:spPr>
          <a:xfrm>
            <a:off x="2250556" y="3906775"/>
            <a:ext cx="20642695" cy="7304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이미지에 관한 설명으로 옳지 않은 것은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?</a:t>
            </a:r>
            <a:br>
              <a:rPr lang="en-US" altLang="ko-KR" sz="5200" b="1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</a:br>
            <a:endParaRPr lang="en-US" altLang="ko-KR" sz="5200" dirty="0">
              <a:solidFill>
                <a:srgbClr val="000000"/>
              </a:solidFill>
              <a:effectLst/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 이름을 설정하지 않으면 </a:t>
            </a:r>
            <a:r>
              <a:rPr lang="en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default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값으로 저장된다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태그를 생략하면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엔진은 </a:t>
            </a:r>
            <a:r>
              <a:rPr lang="en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latest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로 인식한다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이미지는 변경이 불가능하다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저장소 이름이 명시되지 않은 이미지는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허브의 공식 이미지를 뜻한다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ED151-70FE-7D7D-5565-2CF681FFDE7A}"/>
              </a:ext>
            </a:extLst>
          </p:cNvPr>
          <p:cNvSpPr txBox="1"/>
          <p:nvPr/>
        </p:nvSpPr>
        <p:spPr>
          <a:xfrm>
            <a:off x="7054734" y="11643569"/>
            <a:ext cx="10274531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정답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: </a:t>
            </a:r>
            <a:r>
              <a:rPr lang="en-US" altLang="ko-KR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1</a:t>
            </a: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번</a:t>
            </a:r>
          </a:p>
        </p:txBody>
      </p:sp>
    </p:spTree>
    <p:extLst>
      <p:ext uri="{BB962C8B-B14F-4D97-AF65-F5344CB8AC3E}">
        <p14:creationId xmlns:p14="http://schemas.microsoft.com/office/powerpoint/2010/main" val="18676552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altLang="ko-KR" dirty="0"/>
              <a:t>6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826FF-6CAB-6E67-3992-2E5AA9AA0CF7}"/>
              </a:ext>
            </a:extLst>
          </p:cNvPr>
          <p:cNvSpPr txBox="1"/>
          <p:nvPr/>
        </p:nvSpPr>
        <p:spPr>
          <a:xfrm>
            <a:off x="2250556" y="4352338"/>
            <a:ext cx="20828184" cy="2503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다음 빈칸에 들어갈 단어를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적으시오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 </a:t>
            </a:r>
            <a:r>
              <a:rPr lang="en-US" altLang="ko-KR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(</a:t>
            </a:r>
            <a:r>
              <a:rPr lang="ko-KR" altLang="en-US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영어로</a:t>
            </a:r>
            <a:r>
              <a:rPr lang="en-US" altLang="ko-KR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)</a:t>
            </a:r>
            <a:br>
              <a:rPr lang="en-US" altLang="ko-KR" sz="5200" dirty="0">
                <a:solidFill>
                  <a:srgbClr val="0070C0"/>
                </a:solidFill>
              </a:rPr>
            </a:b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힌트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: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9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글자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6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글자</a:t>
            </a:r>
            <a:endParaRPr lang="en-US" altLang="ko-KR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37873A-5F43-D5BF-F345-A782BD17E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175" y="7547009"/>
            <a:ext cx="19930945" cy="203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7251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Slide 16_9 - 4.png" descr="Slide 16_9 -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A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A.</a:t>
            </a:r>
            <a:r>
              <a:rPr lang="en-US" altLang="ko-KR" dirty="0"/>
              <a:t>6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BE88E-13B9-072E-D872-4A0BB6E91880}"/>
              </a:ext>
            </a:extLst>
          </p:cNvPr>
          <p:cNvSpPr txBox="1"/>
          <p:nvPr/>
        </p:nvSpPr>
        <p:spPr>
          <a:xfrm>
            <a:off x="7054734" y="10371766"/>
            <a:ext cx="10274531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정답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: 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container engine</a:t>
            </a:r>
            <a:endParaRPr kumimoji="0" lang="ko-KR" altLang="en-US" sz="5200" b="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A350F0-573C-B3B9-DD41-02BD6B6F3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175" y="7547009"/>
            <a:ext cx="19930945" cy="2035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BB6B07-FB68-F01E-3298-2A8C0F7F7082}"/>
              </a:ext>
            </a:extLst>
          </p:cNvPr>
          <p:cNvSpPr txBox="1"/>
          <p:nvPr/>
        </p:nvSpPr>
        <p:spPr>
          <a:xfrm>
            <a:off x="2250556" y="4352338"/>
            <a:ext cx="20828184" cy="25032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다음 빈칸에 들어갈 단어를 </a:t>
            </a: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적으시오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 </a:t>
            </a:r>
            <a:r>
              <a:rPr lang="en-US" altLang="ko-KR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(</a:t>
            </a:r>
            <a:r>
              <a:rPr lang="ko-KR" altLang="en-US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영어로</a:t>
            </a:r>
            <a:r>
              <a:rPr lang="en-US" altLang="ko-KR" sz="5200" dirty="0">
                <a:solidFill>
                  <a:srgbClr val="0070C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)</a:t>
            </a:r>
            <a:br>
              <a:rPr lang="en-US" altLang="ko-KR" sz="5200" dirty="0">
                <a:solidFill>
                  <a:srgbClr val="0070C0"/>
                </a:solidFill>
              </a:rPr>
            </a:b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힌트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: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9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글자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6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글자</a:t>
            </a:r>
            <a:endParaRPr lang="en-US" altLang="ko-KR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955739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altLang="ko-KR" dirty="0"/>
              <a:t>7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002C1-F681-6A22-87C7-9A3626DB804B}"/>
              </a:ext>
            </a:extLst>
          </p:cNvPr>
          <p:cNvSpPr txBox="1"/>
          <p:nvPr/>
        </p:nvSpPr>
        <p:spPr>
          <a:xfrm>
            <a:off x="2250556" y="3784551"/>
            <a:ext cx="20642695" cy="4903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다음 설명에 해당하는 </a:t>
            </a: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구성 요소의 이름을 쓰시오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5200" dirty="0">
              <a:solidFill>
                <a:srgbClr val="000000"/>
              </a:solidFill>
              <a:effectLst/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도커에서는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 파일을 사용하여 컨테이너의 실행 환경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포함해야 할 파일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실행할 명령어 등을 정의한다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이 파일을 기반으로 이미지가 생성된다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  <a:endParaRPr lang="ko-KR" altLang="en-US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970727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 16_9 - 4.png" descr="Slide 16_9 - 4.png">
            <a:extLst>
              <a:ext uri="{FF2B5EF4-FFF2-40B4-BE49-F238E27FC236}">
                <a16:creationId xmlns:a16="http://schemas.microsoft.com/office/drawing/2014/main" id="{3AECDEAA-B322-4602-A19C-8DC69C54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A.1">
            <a:extLst>
              <a:ext uri="{FF2B5EF4-FFF2-40B4-BE49-F238E27FC236}">
                <a16:creationId xmlns:a16="http://schemas.microsoft.com/office/drawing/2014/main" id="{359D3379-F6D3-4B02-8D89-F53A3D40E3A8}"/>
              </a:ext>
            </a:extLst>
          </p:cNvPr>
          <p:cNvSpPr txBox="1"/>
          <p:nvPr/>
        </p:nvSpPr>
        <p:spPr>
          <a:xfrm>
            <a:off x="2250556" y="2500856"/>
            <a:ext cx="1713452" cy="116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A.</a:t>
            </a:r>
            <a:r>
              <a:rPr lang="en-US" altLang="ko-KR" dirty="0"/>
              <a:t>7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537ED8-A118-4194-9E35-434549EF75D4}"/>
              </a:ext>
            </a:extLst>
          </p:cNvPr>
          <p:cNvSpPr txBox="1"/>
          <p:nvPr/>
        </p:nvSpPr>
        <p:spPr>
          <a:xfrm>
            <a:off x="7054734" y="10371766"/>
            <a:ext cx="10274531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정답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: </a:t>
            </a:r>
            <a:r>
              <a:rPr kumimoji="0" lang="en-US" altLang="ko-KR" sz="5200" b="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Dockerfile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(</a:t>
            </a:r>
            <a:r>
              <a:rPr kumimoji="0" lang="ko-KR" altLang="en-US" sz="5200" b="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도커</a:t>
            </a:r>
            <a:r>
              <a:rPr kumimoji="0" lang="ko-KR" altLang="en-US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 파일</a:t>
            </a:r>
            <a:r>
              <a:rPr kumimoji="0" lang="en-US" altLang="ko-KR" sz="52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BM JUA OTF" panose="02020603020101020101" pitchFamily="18" charset="-127"/>
                <a:ea typeface="BM JUA OTF" panose="02020603020101020101" pitchFamily="18" charset="-127"/>
                <a:sym typeface="Helvetica Neue"/>
              </a:rPr>
              <a:t>)</a:t>
            </a:r>
            <a:endParaRPr kumimoji="0" lang="ko-KR" altLang="en-US" sz="5200" b="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BM JUA OTF" panose="02020603020101020101" pitchFamily="18" charset="-127"/>
              <a:ea typeface="BM JUA OTF" panose="02020603020101020101" pitchFamily="18" charset="-127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56706-9CCB-F068-7546-F8C23A5CA78B}"/>
              </a:ext>
            </a:extLst>
          </p:cNvPr>
          <p:cNvSpPr txBox="1"/>
          <p:nvPr/>
        </p:nvSpPr>
        <p:spPr>
          <a:xfrm>
            <a:off x="2250556" y="3784551"/>
            <a:ext cx="20642695" cy="4903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다음 설명에 해당하는 </a:t>
            </a:r>
            <a:r>
              <a:rPr lang="ko-KR" altLang="en-US" sz="5200" dirty="0" err="1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 구성 요소의 이름을 쓰시오</a:t>
            </a:r>
            <a:r>
              <a:rPr lang="en-US" altLang="ko-KR" sz="5200" dirty="0">
                <a:solidFill>
                  <a:srgbClr val="000000"/>
                </a:solidFill>
                <a:effectLst/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5200" dirty="0">
              <a:solidFill>
                <a:srgbClr val="000000"/>
              </a:solidFill>
              <a:effectLst/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52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도커에서는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 파일을 사용하여 컨테이너의 실행 환경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포함해야 할 파일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실행할 명령어 등을 정의한다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 </a:t>
            </a:r>
            <a:r>
              <a:rPr lang="ko-KR" altLang="en-US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이 파일을 기반으로 이미지가 생성된다</a:t>
            </a:r>
            <a:r>
              <a:rPr lang="en-US" altLang="ko-KR" sz="52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.</a:t>
            </a:r>
            <a:endParaRPr lang="ko-KR" altLang="en-US" sz="52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090954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lide 16_9 - 3.png" descr="Slide 16_9 -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Q.1"/>
          <p:cNvSpPr txBox="1"/>
          <p:nvPr/>
        </p:nvSpPr>
        <p:spPr>
          <a:xfrm>
            <a:off x="2250556" y="2505216"/>
            <a:ext cx="1713452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900" b="1">
                <a:solidFill>
                  <a:srgbClr val="3D3E3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Q.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100D9A-258E-AE89-D561-213EB6C649B2}"/>
              </a:ext>
            </a:extLst>
          </p:cNvPr>
          <p:cNvSpPr txBox="1"/>
          <p:nvPr/>
        </p:nvSpPr>
        <p:spPr>
          <a:xfrm>
            <a:off x="2250556" y="3860177"/>
            <a:ext cx="20828184" cy="9058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52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다음 중 틀린 설명을 한 사람을 </a:t>
            </a:r>
            <a:r>
              <a:rPr lang="ko-KR" altLang="en-US" sz="5200" dirty="0">
                <a:solidFill>
                  <a:schemeClr val="accent1">
                    <a:lumMod val="75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모두</a:t>
            </a:r>
            <a:r>
              <a:rPr lang="ko-KR" altLang="en-US" sz="5200" dirty="0">
                <a:solidFill>
                  <a:schemeClr val="bg2">
                    <a:lumMod val="10000"/>
                  </a:schemeClr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골라라</a:t>
            </a:r>
          </a:p>
          <a:p>
            <a:pPr algn="l">
              <a:lnSpc>
                <a:spcPct val="175000"/>
              </a:lnSpc>
            </a:pP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다인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: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이미지는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컨테이너를 어떻게 만들어야 하는지 알려주는 레시피와 같아</a:t>
            </a:r>
            <a:b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</a:b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유정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: 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스프링 부트 프로젝트를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도커로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배포할 때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프로젝트 폴더 안에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파일을 생성하면 돼</a:t>
            </a:r>
            <a:endParaRPr lang="en-US" altLang="ko-KR" sz="4800" dirty="0">
              <a:solidFill>
                <a:srgbClr val="000000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l">
              <a:lnSpc>
                <a:spcPct val="175000"/>
              </a:lnSpc>
            </a:pP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민재 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: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이미지는 보통 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[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저장소 이름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]/[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이미지 이름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]:[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태그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] 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형식으로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이루어져있으며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, 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저장소 이름을 필수로 설정해야 돼</a:t>
            </a:r>
            <a:b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</a:b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나령</a:t>
            </a:r>
            <a:r>
              <a:rPr lang="en-US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: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도커도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" altLang="ko-KR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github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처럼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도커에서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관리하는 </a:t>
            </a:r>
            <a:r>
              <a:rPr lang="ko-KR" altLang="en-US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호스팅된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 </a:t>
            </a:r>
            <a:r>
              <a:rPr lang="en" altLang="ko-KR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docker container registry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인 </a:t>
            </a:r>
            <a:r>
              <a:rPr lang="en" altLang="ko-KR" sz="4800" dirty="0" err="1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dockerhub</a:t>
            </a:r>
            <a:r>
              <a:rPr lang="ko-KR" altLang="en-US" sz="4800" dirty="0">
                <a:solidFill>
                  <a:srgbClr val="000000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가 존재해</a:t>
            </a:r>
          </a:p>
        </p:txBody>
      </p:sp>
    </p:spTree>
    <p:extLst>
      <p:ext uri="{BB962C8B-B14F-4D97-AF65-F5344CB8AC3E}">
        <p14:creationId xmlns:p14="http://schemas.microsoft.com/office/powerpoint/2010/main" val="219255972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6800E88-E31D-BA65-01A9-646C78D2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0D5C1B-4DF3-3ACE-DB01-662EC84DB8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66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046AD2B-0021-202B-F2CF-B3D66A34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20F36D-489A-FAEA-F29A-26956668F8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5583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1307556-2326-1574-753C-86568A88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75F41D-7553-42FF-9275-A681AF6308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9773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62CCD57-0B4E-6ED1-31F9-1C12B322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 descr="텍스트, 폰트, 웹 페이지, 소프트웨어이(가) 표시된 사진&#10;&#10;자동 생성된 설명">
            <a:extLst>
              <a:ext uri="{FF2B5EF4-FFF2-40B4-BE49-F238E27FC236}">
                <a16:creationId xmlns:a16="http://schemas.microsoft.com/office/drawing/2014/main" id="{AA2B9F20-DE62-E043-5EC7-15B78131A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48562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7519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소프트웨어, 웹 페이지, 폰트이(가) 표시된 사진&#10;&#10;자동 생성된 설명">
            <a:extLst>
              <a:ext uri="{FF2B5EF4-FFF2-40B4-BE49-F238E27FC236}">
                <a16:creationId xmlns:a16="http://schemas.microsoft.com/office/drawing/2014/main" id="{8EDEB351-9EAF-D501-EBC0-A3F08D5A1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892"/>
            <a:ext cx="24348740" cy="137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0542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2523</TotalTime>
  <Words>852</Words>
  <Application>Microsoft Macintosh PowerPoint</Application>
  <PresentationFormat>사용자 지정</PresentationFormat>
  <Paragraphs>115</Paragraphs>
  <Slides>42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6" baseType="lpstr">
      <vt:lpstr>BM JUA OTF</vt:lpstr>
      <vt:lpstr>Helvetica Neue</vt:lpstr>
      <vt:lpstr>Helvetica Neue Medium</vt:lpstr>
      <vt:lpstr>21_BasicWhite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Youth</dc:creator>
  <cp:lastModifiedBy>박윤하</cp:lastModifiedBy>
  <cp:revision>51</cp:revision>
  <cp:lastPrinted>2024-05-29T16:16:46Z</cp:lastPrinted>
  <dcterms:modified xsi:type="dcterms:W3CDTF">2024-05-31T04:31:32Z</dcterms:modified>
</cp:coreProperties>
</file>